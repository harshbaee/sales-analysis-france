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8723-F844-4AEF-A050-9006DA5F39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71C0-B6F9-4061-BBD1-77BCFCFCE13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5076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8723-F844-4AEF-A050-9006DA5F39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71C0-B6F9-4061-BBD1-77BCFCFCE13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0251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8723-F844-4AEF-A050-9006DA5F39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71C0-B6F9-4061-BBD1-77BCFCFCE13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240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8723-F844-4AEF-A050-9006DA5F39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71C0-B6F9-4061-BBD1-77BCFCFCE13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5830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8723-F844-4AEF-A050-9006DA5F39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71C0-B6F9-4061-BBD1-77BCFCFCE138}" type="slidenum">
              <a:rPr lang="fr-FR" smtClean="0"/>
              <a:t>‹#›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16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8723-F844-4AEF-A050-9006DA5F39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71C0-B6F9-4061-BBD1-77BCFCFCE13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606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8723-F844-4AEF-A050-9006DA5F39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71C0-B6F9-4061-BBD1-77BCFCFCE13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4233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8723-F844-4AEF-A050-9006DA5F39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fr-F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71C0-B6F9-4061-BBD1-77BCFCFCE13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7565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9098723-F844-4AEF-A050-9006DA5F39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fr-F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71C0-B6F9-4061-BBD1-77BCFCFCE13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0731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8723-F844-4AEF-A050-9006DA5F39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71C0-B6F9-4061-BBD1-77BCFCFCE13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6843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98723-F844-4AEF-A050-9006DA5F39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971C0-B6F9-4061-BBD1-77BCFCFCE13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109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9098723-F844-4AEF-A050-9006DA5F3999}" type="datetimeFigureOut">
              <a:rPr lang="fr-FR" smtClean="0"/>
              <a:t>01/03/2026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5A971C0-B6F9-4061-BBD1-77BCFCFCE13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309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2FE6-E29E-4057-B100-6728157F47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Sales Analysis of France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A7949-18ED-4C6B-AD52-4912F6BA80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: Harsh Prajapati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1010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359167-1AF6-405D-8F0E-052DD78CF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13" y="944314"/>
            <a:ext cx="10846173" cy="5674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D4F4F7-2C4F-4068-AFC6-66D604923FA0}"/>
              </a:ext>
            </a:extLst>
          </p:cNvPr>
          <p:cNvSpPr txBox="1"/>
          <p:nvPr/>
        </p:nvSpPr>
        <p:spPr>
          <a:xfrm>
            <a:off x="5291354" y="411061"/>
            <a:ext cx="1609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ucida Bright" panose="02040602050505020304" pitchFamily="18" charset="0"/>
              </a:rPr>
              <a:t>Dashboard 1</a:t>
            </a:r>
            <a:endParaRPr lang="fr-FR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77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Right 4">
            <a:extLst>
              <a:ext uri="{FF2B5EF4-FFF2-40B4-BE49-F238E27FC236}">
                <a16:creationId xmlns:a16="http://schemas.microsoft.com/office/drawing/2014/main" id="{7AE0C686-91E3-4F8D-B974-3F1E22F704F2}"/>
              </a:ext>
            </a:extLst>
          </p:cNvPr>
          <p:cNvSpPr/>
          <p:nvPr/>
        </p:nvSpPr>
        <p:spPr>
          <a:xfrm>
            <a:off x="3397539" y="1157680"/>
            <a:ext cx="1820411" cy="4530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24AC5AC-2F79-4215-B5F0-43CD01BE9253}"/>
              </a:ext>
            </a:extLst>
          </p:cNvPr>
          <p:cNvSpPr/>
          <p:nvPr/>
        </p:nvSpPr>
        <p:spPr>
          <a:xfrm>
            <a:off x="3397540" y="2967605"/>
            <a:ext cx="1820411" cy="4530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77ACF13-4617-4E30-8AD7-BA3ED24F8F4C}"/>
              </a:ext>
            </a:extLst>
          </p:cNvPr>
          <p:cNvSpPr/>
          <p:nvPr/>
        </p:nvSpPr>
        <p:spPr>
          <a:xfrm>
            <a:off x="3397539" y="5118682"/>
            <a:ext cx="1820411" cy="4530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4991E9-B33D-4DCD-A231-89AFFE501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05" y="852900"/>
            <a:ext cx="2433662" cy="51522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9E79B51-CBD5-4FB9-8BB4-1BBEE7868FC9}"/>
              </a:ext>
            </a:extLst>
          </p:cNvPr>
          <p:cNvSpPr/>
          <p:nvPr/>
        </p:nvSpPr>
        <p:spPr>
          <a:xfrm>
            <a:off x="6157519" y="753620"/>
            <a:ext cx="4832059" cy="1261126"/>
          </a:xfrm>
          <a:prstGeom prst="round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AD0D6D-9362-41BF-9AC9-151D21841FFC}"/>
              </a:ext>
            </a:extLst>
          </p:cNvPr>
          <p:cNvSpPr txBox="1"/>
          <p:nvPr/>
        </p:nvSpPr>
        <p:spPr>
          <a:xfrm>
            <a:off x="6711192" y="922518"/>
            <a:ext cx="37247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 the </a:t>
            </a:r>
            <a:r>
              <a:rPr lang="en-US" dirty="0" err="1"/>
              <a:t>analysed</a:t>
            </a:r>
            <a:r>
              <a:rPr lang="en-US" dirty="0"/>
              <a:t> period, Stores generated approximately €25.9 million in total revenue.</a:t>
            </a:r>
            <a:endParaRPr lang="fr-FR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DAB5C74-B54F-440E-859E-D8BD1D2FB460}"/>
              </a:ext>
            </a:extLst>
          </p:cNvPr>
          <p:cNvSpPr/>
          <p:nvPr/>
        </p:nvSpPr>
        <p:spPr>
          <a:xfrm>
            <a:off x="6157519" y="2563545"/>
            <a:ext cx="4832059" cy="1261126"/>
          </a:xfrm>
          <a:prstGeom prst="round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558823-B54E-45A7-8AAC-6B6CB7758DF7}"/>
              </a:ext>
            </a:extLst>
          </p:cNvPr>
          <p:cNvSpPr txBox="1"/>
          <p:nvPr/>
        </p:nvSpPr>
        <p:spPr>
          <a:xfrm>
            <a:off x="6711192" y="2730617"/>
            <a:ext cx="3221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However, when we </a:t>
            </a:r>
            <a:r>
              <a:rPr lang="en-US" dirty="0" err="1"/>
              <a:t>analyse</a:t>
            </a:r>
            <a:r>
              <a:rPr lang="en-US" dirty="0"/>
              <a:t> total margin, we observe a cumulative loss of €31.1 million.</a:t>
            </a:r>
            <a:endParaRPr lang="fr-FR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46E0C3A-6D6F-4F78-8879-3171973DD2CC}"/>
              </a:ext>
            </a:extLst>
          </p:cNvPr>
          <p:cNvSpPr/>
          <p:nvPr/>
        </p:nvSpPr>
        <p:spPr>
          <a:xfrm>
            <a:off x="6157519" y="4714622"/>
            <a:ext cx="4832059" cy="1261126"/>
          </a:xfrm>
          <a:prstGeom prst="round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3FCE32-8D60-4CBE-A305-3EFACEF94214}"/>
              </a:ext>
            </a:extLst>
          </p:cNvPr>
          <p:cNvSpPr txBox="1"/>
          <p:nvPr/>
        </p:nvSpPr>
        <p:spPr>
          <a:xfrm>
            <a:off x="6784805" y="4883520"/>
            <a:ext cx="30741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a profit margin of –120%, Stores are losing €1.20 for every €1 earned.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2877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50C908-E7E7-45F3-983A-236ECF5D7BB7}"/>
              </a:ext>
            </a:extLst>
          </p:cNvPr>
          <p:cNvSpPr txBox="1"/>
          <p:nvPr/>
        </p:nvSpPr>
        <p:spPr>
          <a:xfrm>
            <a:off x="2811709" y="5687736"/>
            <a:ext cx="63840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Revenue increased from 2007 to 2010 and then became stable.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losses also increased during high revenue years.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shows that higher sales did not lead to profit.</a:t>
            </a:r>
            <a:endParaRPr lang="fr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89C35A-CBF4-4BBB-BFC6-EDA25A7A0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988" y="176169"/>
            <a:ext cx="5057164" cy="533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476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C48423-F1AD-4A8A-97A1-BA6A193900F7}"/>
              </a:ext>
            </a:extLst>
          </p:cNvPr>
          <p:cNvSpPr txBox="1"/>
          <p:nvPr/>
        </p:nvSpPr>
        <p:spPr>
          <a:xfrm>
            <a:off x="2564234" y="5624277"/>
            <a:ext cx="70635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Revenue changes across months, with clear peak periods.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Month 12 shows the highest revenue of the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However, profit margin remains negative even during peak sales.</a:t>
            </a:r>
            <a:endParaRPr lang="fr-FR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227892-6783-457D-9300-51042FE54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234" y="276837"/>
            <a:ext cx="5841535" cy="524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550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D92DB7-65D0-4F4E-B997-2D6B81565D52}"/>
              </a:ext>
            </a:extLst>
          </p:cNvPr>
          <p:cNvSpPr txBox="1"/>
          <p:nvPr/>
        </p:nvSpPr>
        <p:spPr>
          <a:xfrm>
            <a:off x="2895599" y="5699616"/>
            <a:ext cx="64008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 performance varies significantly across locations.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 and orange stores show high losses despite strong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Green stores perform better, with positive or lower losses.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ECCE7-C314-426F-917B-09740FCBD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298" y="192253"/>
            <a:ext cx="8569401" cy="550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976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8C1E22-42CB-4EFB-9C49-A5A53204A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1" y="154365"/>
            <a:ext cx="6787116" cy="65492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FE0C76-34D0-4611-945C-D48B7E1F0816}"/>
              </a:ext>
            </a:extLst>
          </p:cNvPr>
          <p:cNvSpPr txBox="1"/>
          <p:nvPr/>
        </p:nvSpPr>
        <p:spPr>
          <a:xfrm>
            <a:off x="7038362" y="1028343"/>
            <a:ext cx="485722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Products with high negative margin should be reviewed immediately.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Prices may need to increase, or production and supply costs must be reduced.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If they cannot become profitable, they should be replaced or discontinued.</a:t>
            </a:r>
          </a:p>
          <a:p>
            <a:endParaRPr lang="fr-FR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07E7DD1-DA49-412D-AD39-2AC0123104A2}"/>
              </a:ext>
            </a:extLst>
          </p:cNvPr>
          <p:cNvSpPr/>
          <p:nvPr/>
        </p:nvSpPr>
        <p:spPr>
          <a:xfrm>
            <a:off x="2185331" y="580705"/>
            <a:ext cx="511729" cy="1642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84FFBBE-5951-4D12-8922-414DF0E2AD9E}"/>
              </a:ext>
            </a:extLst>
          </p:cNvPr>
          <p:cNvSpPr/>
          <p:nvPr/>
        </p:nvSpPr>
        <p:spPr>
          <a:xfrm>
            <a:off x="2395055" y="1672543"/>
            <a:ext cx="511729" cy="1642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38979787-BF8C-4DFF-96AA-EC5A2643785A}"/>
              </a:ext>
            </a:extLst>
          </p:cNvPr>
          <p:cNvSpPr/>
          <p:nvPr/>
        </p:nvSpPr>
        <p:spPr>
          <a:xfrm>
            <a:off x="838899" y="3877110"/>
            <a:ext cx="243281" cy="4362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B6F978D-327E-4A5A-BB78-CAEAD991E6EA}"/>
              </a:ext>
            </a:extLst>
          </p:cNvPr>
          <p:cNvSpPr/>
          <p:nvPr/>
        </p:nvSpPr>
        <p:spPr>
          <a:xfrm>
            <a:off x="3550108" y="3776443"/>
            <a:ext cx="243281" cy="4362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1172568-C977-4F56-9991-81D4001C5CA6}"/>
              </a:ext>
            </a:extLst>
          </p:cNvPr>
          <p:cNvSpPr/>
          <p:nvPr/>
        </p:nvSpPr>
        <p:spPr>
          <a:xfrm>
            <a:off x="2558641" y="5279487"/>
            <a:ext cx="511729" cy="1642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EE2D20-88A0-4EE1-967C-E008001B9EBE}"/>
              </a:ext>
            </a:extLst>
          </p:cNvPr>
          <p:cNvSpPr/>
          <p:nvPr/>
        </p:nvSpPr>
        <p:spPr>
          <a:xfrm>
            <a:off x="3428468" y="4566406"/>
            <a:ext cx="243281" cy="4362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37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2D8787-914A-41A5-998E-467B88A3A835}"/>
              </a:ext>
            </a:extLst>
          </p:cNvPr>
          <p:cNvSpPr txBox="1"/>
          <p:nvPr/>
        </p:nvSpPr>
        <p:spPr>
          <a:xfrm>
            <a:off x="7804559" y="486562"/>
            <a:ext cx="396519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small number of stores generate most of the revenue.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r>
              <a:rPr lang="en-US" b="1" dirty="0"/>
              <a:t>However, many stores operate with negative margins (shown in red and orange).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r>
              <a:rPr lang="en-US" b="1" dirty="0"/>
              <a:t>This shows that the loss problem is spread across multiple locations.</a:t>
            </a:r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9CB242-2240-4602-B632-1A36FC110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35" y="486562"/>
            <a:ext cx="7343986" cy="465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854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996E69-CB6B-4F23-816A-4217FEAC6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13" y="1840335"/>
            <a:ext cx="8151624" cy="46537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4601C0-0C6D-4175-AF2F-6C066733B93E}"/>
              </a:ext>
            </a:extLst>
          </p:cNvPr>
          <p:cNvSpPr txBox="1"/>
          <p:nvPr/>
        </p:nvSpPr>
        <p:spPr>
          <a:xfrm>
            <a:off x="8405769" y="1766574"/>
            <a:ext cx="352337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Revenue increased strongly from 2006 to 2008 and then </a:t>
            </a:r>
            <a:r>
              <a:rPr lang="en-US" dirty="0" err="1"/>
              <a:t>stabilised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Profit (margin) remains negative and shows large fluctuations over time.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The company is selling more but still losing money.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A05FEB-5B9C-4C0C-8864-52D2652342EF}"/>
              </a:ext>
            </a:extLst>
          </p:cNvPr>
          <p:cNvSpPr txBox="1"/>
          <p:nvPr/>
        </p:nvSpPr>
        <p:spPr>
          <a:xfrm>
            <a:off x="3963798" y="444617"/>
            <a:ext cx="42644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/>
              <a:t>Actual Profit by Ticket Timestamps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809498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593BF-5AE5-4D8B-A693-8C518379D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94241"/>
            <a:ext cx="7729728" cy="1188720"/>
          </a:xfrm>
        </p:spPr>
        <p:txBody>
          <a:bodyPr>
            <a:normAutofit/>
          </a:bodyPr>
          <a:lstStyle/>
          <a:p>
            <a:r>
              <a:rPr lang="fr-FR" b="1" dirty="0"/>
              <a:t>Strategic Conclusion &amp; </a:t>
            </a:r>
            <a:br>
              <a:rPr lang="fr-FR" b="1" dirty="0"/>
            </a:br>
            <a:r>
              <a:rPr lang="fr-FR" b="1" dirty="0"/>
              <a:t>Next </a:t>
            </a:r>
            <a:r>
              <a:rPr lang="fr-FR" b="1" dirty="0" err="1"/>
              <a:t>Steps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151052-C2FC-43F1-859C-DA692FD96134}"/>
              </a:ext>
            </a:extLst>
          </p:cNvPr>
          <p:cNvSpPr txBox="1"/>
          <p:nvPr/>
        </p:nvSpPr>
        <p:spPr>
          <a:xfrm>
            <a:off x="0" y="2090172"/>
            <a:ext cx="546403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Strategic Summary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Revenue vs. Margin:</a:t>
            </a:r>
            <a:r>
              <a:rPr lang="en-US" sz="1400" dirty="0"/>
              <a:t> While the </a:t>
            </a:r>
            <a:r>
              <a:rPr lang="en-US" sz="1400" b="1" dirty="0"/>
              <a:t>€25.9M revenue</a:t>
            </a:r>
            <a:r>
              <a:rPr lang="en-US" sz="1400" dirty="0"/>
              <a:t> demonstrates strong market demand, the </a:t>
            </a:r>
            <a:r>
              <a:rPr lang="en-US" sz="1400" b="1" dirty="0"/>
              <a:t>€31.1M margin deficit</a:t>
            </a:r>
            <a:r>
              <a:rPr lang="en-US" sz="1400" dirty="0"/>
              <a:t> highlights a critical need for operational restructuring.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The Growth Paradox:</a:t>
            </a:r>
            <a:r>
              <a:rPr lang="en-US" sz="1400" dirty="0"/>
              <a:t> Higher sales volume has historically led to deeper losses; we must shift focus from "selling more" to "selling profitably."</a:t>
            </a:r>
          </a:p>
          <a:p>
            <a:endParaRPr lang="fr-F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C37C7-DAD4-411E-B69D-724945F9E8A0}"/>
              </a:ext>
            </a:extLst>
          </p:cNvPr>
          <p:cNvSpPr txBox="1"/>
          <p:nvPr/>
        </p:nvSpPr>
        <p:spPr>
          <a:xfrm>
            <a:off x="6727970" y="2090172"/>
            <a:ext cx="427838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Immediate Action Plan</a:t>
            </a:r>
          </a:p>
          <a:p>
            <a:pPr algn="ctr"/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Optimize the Network:</a:t>
            </a:r>
            <a:r>
              <a:rPr lang="en-US" sz="1400" dirty="0"/>
              <a:t> Prioritize and replicate the </a:t>
            </a:r>
            <a:r>
              <a:rPr lang="en-US" sz="1400" b="1" dirty="0"/>
              <a:t>"Green Store" model</a:t>
            </a:r>
            <a:r>
              <a:rPr lang="en-US" sz="1400" dirty="0"/>
              <a:t> (profitable locations) across the entire French market.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Rationalize the Portfolio:</a:t>
            </a:r>
            <a:r>
              <a:rPr lang="en-US" sz="1400" dirty="0"/>
              <a:t> Review and potentially discontinue high-revenue products that carry significant negative margins.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Pricing &amp; Costs:</a:t>
            </a:r>
            <a:r>
              <a:rPr lang="en-US" sz="1400" dirty="0"/>
              <a:t> Implement immediate reviews of production costs and supply chain efficiency to protect the bottom line.</a:t>
            </a:r>
          </a:p>
          <a:p>
            <a:endParaRPr lang="fr-FR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49A336-FD7A-4A43-866B-F62210593F5D}"/>
              </a:ext>
            </a:extLst>
          </p:cNvPr>
          <p:cNvSpPr txBox="1"/>
          <p:nvPr/>
        </p:nvSpPr>
        <p:spPr>
          <a:xfrm flipH="1">
            <a:off x="1461403" y="5817428"/>
            <a:ext cx="9269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By aligning sales volume with margin efficiency, the French market can transition from a loss-leader to a profitable cornerstone of the company.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0111042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396</TotalTime>
  <Words>436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Gill Sans MT</vt:lpstr>
      <vt:lpstr>Lucida Bright</vt:lpstr>
      <vt:lpstr>Parcel</vt:lpstr>
      <vt:lpstr>Sales Analysis of France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Strategic Conclusion &amp; 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Analysis of France</dc:title>
  <dc:creator>Harsh Prajapati</dc:creator>
  <cp:lastModifiedBy>Harsh Prajapati</cp:lastModifiedBy>
  <cp:revision>15</cp:revision>
  <dcterms:created xsi:type="dcterms:W3CDTF">2026-02-28T20:41:18Z</dcterms:created>
  <dcterms:modified xsi:type="dcterms:W3CDTF">2026-03-01T19:34:02Z</dcterms:modified>
</cp:coreProperties>
</file>